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65" r:id="rId11"/>
    <p:sldId id="266" r:id="rId12"/>
    <p:sldId id="267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160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008AB-1CC7-6669-6BD9-622C282FF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D3C6C-9CEC-EE49-9FCB-A5253782B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29D3E-3357-F683-FBDC-FC282D02D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BD49D-E426-57B7-762F-D854E5CC18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5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Integrative Enrichment of</a:t>
            </a:r>
            <a:endParaRPr lang="en-US" sz="36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 Functional Annotations</a:t>
            </a:r>
            <a:endParaRPr lang="en-US" sz="36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Large Language Models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53035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Luís Pedrosa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Orientadores: Andreia Salvador · Bruno Sá · Maria Fernanda Vieira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Engenharia Biológica · Universidade do Minho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A3B"/>
                </a:solidFill>
                <a:latin typeface="Georgia" pitchFamily="34" charset="0"/>
              </a:rPr>
              <a:t>A </a:t>
            </a: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</a:rPr>
              <a:t>falta</a:t>
            </a:r>
            <a:r>
              <a:rPr lang="en-US" sz="2800" b="1" dirty="0">
                <a:solidFill>
                  <a:srgbClr val="0E2A3B"/>
                </a:solidFill>
                <a:latin typeface="Georgia" pitchFamily="34" charset="0"/>
              </a:rPr>
              <a:t> de </a:t>
            </a: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</a:rPr>
              <a:t>anotação</a:t>
            </a:r>
            <a:r>
              <a:rPr lang="en-US" sz="2800" b="1" dirty="0">
                <a:solidFill>
                  <a:srgbClr val="0E2A3B"/>
                </a:solidFill>
                <a:latin typeface="Georgia" pitchFamily="34" charset="0"/>
              </a:rPr>
              <a:t> </a:t>
            </a: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</a:rPr>
              <a:t>nas</a:t>
            </a:r>
            <a:r>
              <a:rPr lang="en-US" sz="2800" b="1" dirty="0">
                <a:solidFill>
                  <a:srgbClr val="0E2A3B"/>
                </a:solidFill>
                <a:latin typeface="Georgia" pitchFamily="34" charset="0"/>
              </a:rPr>
              <a:t> </a:t>
            </a: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</a:rPr>
              <a:t>proteínas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00400" cy="1920240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SEQUENCIAÇÃO EM MASSA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Bases de dados com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centenas de milhares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proteínas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69094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17734" y="1783080"/>
            <a:ext cx="3200400" cy="1920240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 dirty="0"/>
          </a:p>
        </p:txBody>
      </p:sp>
      <p:sp>
        <p:nvSpPr>
          <p:cNvPr id="13" name="Text 11"/>
          <p:cNvSpPr/>
          <p:nvPr/>
        </p:nvSpPr>
        <p:spPr>
          <a:xfrm>
            <a:off x="4600614" y="2423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Muitas proteínas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função fiável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 mal anotadas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01014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441094" y="1819656"/>
            <a:ext cx="3200400" cy="1920240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86410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 DE PREDIÇÃO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23974" y="2423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Homologia · Domínios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conservados · Machine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475720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80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7B5EFDDF-8703-9303-414B-A2B102853BDC}"/>
              </a:ext>
            </a:extLst>
          </p:cNvPr>
          <p:cNvSpPr/>
          <p:nvPr/>
        </p:nvSpPr>
        <p:spPr>
          <a:xfrm>
            <a:off x="4600614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ANOTAÇÕES EM FALTA</a:t>
            </a:r>
            <a:endParaRPr lang="en-US" sz="11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19F9689-3BC7-FA7B-B4B7-E8B8130B1B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107" b="14132"/>
          <a:stretch>
            <a:fillRect/>
          </a:stretch>
        </p:blipFill>
        <p:spPr>
          <a:xfrm>
            <a:off x="485814" y="3931920"/>
            <a:ext cx="11064240" cy="25359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0361" y="1325880"/>
            <a:ext cx="2697480" cy="2743200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180361" y="1536239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63241" y="2569511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2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Pré-processamento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97480" cy="2743200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3186684" y="16002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383280" y="258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2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Enriquecimento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5653" y="2465428"/>
            <a:ext cx="237744" cy="274320"/>
          </a:xfrm>
          <a:prstGeom prst="rightArrow">
            <a:avLst/>
          </a:prstGeom>
          <a:solidFill>
            <a:srgbClr val="5A9BB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6210829" y="1325880"/>
            <a:ext cx="2697480" cy="2743200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 dirty="0"/>
          </a:p>
        </p:txBody>
      </p:sp>
      <p:sp>
        <p:nvSpPr>
          <p:cNvPr id="18" name="Text 16"/>
          <p:cNvSpPr/>
          <p:nvPr/>
        </p:nvSpPr>
        <p:spPr>
          <a:xfrm>
            <a:off x="6206723" y="1609344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389603" y="2569511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2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Resumo por LLM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963173" y="2465428"/>
            <a:ext cx="237744" cy="274320"/>
          </a:xfrm>
          <a:prstGeom prst="rightArrow">
            <a:avLst/>
          </a:prstGeom>
          <a:solidFill>
            <a:srgbClr val="5A9BB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9221258" y="1325880"/>
            <a:ext cx="2697480" cy="2743200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9404138" y="25694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2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Explorador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1475720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80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D622F15-71BF-E6A1-C02B-4A5E0E443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525" y="4206287"/>
            <a:ext cx="7638950" cy="2402032"/>
          </a:xfrm>
          <a:prstGeom prst="rect">
            <a:avLst/>
          </a:prstGeom>
        </p:spPr>
      </p:pic>
      <p:sp>
        <p:nvSpPr>
          <p:cNvPr id="36" name="Text 8">
            <a:extLst>
              <a:ext uri="{FF2B5EF4-FFF2-40B4-BE49-F238E27FC236}">
                <a16:creationId xmlns:a16="http://schemas.microsoft.com/office/drawing/2014/main" id="{DF77E0C3-F53B-762B-9AA2-415108C45A17}"/>
              </a:ext>
            </a:extLst>
          </p:cNvPr>
          <p:cNvSpPr/>
          <p:nvPr/>
        </p:nvSpPr>
        <p:spPr>
          <a:xfrm>
            <a:off x="363241" y="3039427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de ferramentas </a:t>
            </a:r>
            <a:r>
              <a:rPr lang="en-US" sz="140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heterogéneas</a:t>
            </a:r>
            <a:r>
              <a:rPr lang="en-US" sz="14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 só esquema</a:t>
            </a:r>
            <a:endParaRPr lang="en-US" sz="14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EA1E4152-E810-53A2-ED56-B1B0563A801D}"/>
              </a:ext>
            </a:extLst>
          </p:cNvPr>
          <p:cNvSpPr/>
          <p:nvPr/>
        </p:nvSpPr>
        <p:spPr>
          <a:xfrm>
            <a:off x="3590699" y="3049224"/>
            <a:ext cx="1889449" cy="516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 com </a:t>
            </a:r>
            <a:r>
              <a:rPr lang="en-US" sz="140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</a:t>
            </a:r>
            <a:r>
              <a:rPr lang="en-US" sz="14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proveniente</a:t>
            </a:r>
            <a:r>
              <a:rPr lang="en-US" sz="14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bases de dados</a:t>
            </a:r>
            <a:endParaRPr lang="en-US" sz="140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BCADD0B8-D540-1C84-0779-475B4E16719C}"/>
              </a:ext>
            </a:extLst>
          </p:cNvPr>
          <p:cNvSpPr/>
          <p:nvPr/>
        </p:nvSpPr>
        <p:spPr>
          <a:xfrm>
            <a:off x="6618203" y="3049411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organiza a evidência por fiabilidade</a:t>
            </a:r>
            <a:endParaRPr lang="en-US" sz="14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43672006-2718-1BAF-C15C-C3219B58D06F}"/>
              </a:ext>
            </a:extLst>
          </p:cNvPr>
          <p:cNvSpPr/>
          <p:nvPr/>
        </p:nvSpPr>
        <p:spPr>
          <a:xfrm>
            <a:off x="9790472" y="3026664"/>
            <a:ext cx="15590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r>
              <a:rPr lang="en-US" sz="14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4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interface </a:t>
            </a:r>
            <a:r>
              <a:rPr lang="en-US" sz="140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interativa</a:t>
            </a:r>
            <a:endParaRPr lang="en-US" sz="1400" dirty="0"/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10CC9BA5-2EFF-A36D-767A-FF4770ABD7A8}"/>
              </a:ext>
            </a:extLst>
          </p:cNvPr>
          <p:cNvSpPr/>
          <p:nvPr/>
        </p:nvSpPr>
        <p:spPr>
          <a:xfrm>
            <a:off x="2936251" y="2465428"/>
            <a:ext cx="237744" cy="274320"/>
          </a:xfrm>
          <a:prstGeom prst="rightArrow">
            <a:avLst/>
          </a:prstGeom>
          <a:solidFill>
            <a:srgbClr val="5A9BB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8F964651-B434-09A9-4FCA-817C4487CF1A}"/>
              </a:ext>
            </a:extLst>
          </p:cNvPr>
          <p:cNvSpPr/>
          <p:nvPr/>
        </p:nvSpPr>
        <p:spPr>
          <a:xfrm>
            <a:off x="9200917" y="1621841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C7293"/>
                </a:solidFill>
                <a:latin typeface="Georgia" pitchFamily="34" charset="0"/>
              </a:rPr>
              <a:t>4</a:t>
            </a:r>
            <a:endParaRPr lang="en-US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57019C41-37A2-A7AF-F003-165343F1D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4232046"/>
            <a:ext cx="3200677" cy="9144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0A39E72-FB49-9959-98B6-DB08DAA9E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6839"/>
            <a:ext cx="3200677" cy="9144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0ED1F18-51A4-D787-E656-EAC71EA12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8861"/>
            <a:ext cx="3200677" cy="9144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 1 - Pré-</a:t>
            </a: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processamento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0918" y="180018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HOMOLOGIA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0918" y="2076683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UPIMAPI · eggNOG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0918" y="3055393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DOMÍNIOS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0918" y="3329713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reCOGnizer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0918" y="4319505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0918" y="45925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DeepFRI · DeepGO2 · CLEAN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categórica  </a:t>
            </a:r>
            <a:r>
              <a:rPr lang="en-US" sz="13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300" dirty="0">
                <a:solidFill>
                  <a:srgbClr val="243B4A"/>
                </a:solidFill>
                <a:highlight>
                  <a:srgbClr val="00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r>
              <a:rPr lang="en-US" sz="13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243B4A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r>
              <a:rPr lang="en-US" sz="13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243B4A"/>
                </a:solidFill>
                <a:highlight>
                  <a:srgbClr val="FF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r>
              <a:rPr lang="en-US" sz="13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dirty="0">
                <a:solidFill>
                  <a:srgbClr val="243B4A"/>
                </a:solidFill>
                <a:highlight>
                  <a:srgbClr val="C0C0C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desconhecido</a:t>
            </a:r>
            <a:r>
              <a:rPr lang="en-US" sz="13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comparável entre ferramentas (o valor original é preservado).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75720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80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AA9261A-2CDB-BD77-544B-13DD0C6FB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622" y="1574058"/>
            <a:ext cx="5673939" cy="37098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 2 – </a:t>
            </a: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Enriquecimento</a:t>
            </a:r>
            <a:r>
              <a:rPr lang="en-US" sz="28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5780" y="1411498"/>
            <a:ext cx="5394960" cy="932688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2080260" y="159437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UniProt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80260" y="191441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Metadados curados por especialistas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25542" y="1411498"/>
            <a:ext cx="5394960" cy="932688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8397746" y="1549983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97746" y="187235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Assinaturas e </a:t>
            </a:r>
            <a:r>
              <a:rPr lang="en-US" sz="12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domínios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integrados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5091" y="2521373"/>
            <a:ext cx="3035177" cy="490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Pedidos paralelos às APIs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8411" y="2521373"/>
            <a:ext cx="3035177" cy="490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Mapeamento por accession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81731" y="2521373"/>
            <a:ext cx="3035177" cy="490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</a:t>
            </a:r>
            <a:r>
              <a:rPr lang="en-US" sz="13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 só perfil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475720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80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436E4B8-DA51-5EBD-20CF-C229943CE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96" y="1612795"/>
            <a:ext cx="1311884" cy="600622"/>
          </a:xfrm>
          <a:prstGeom prst="rect">
            <a:avLst/>
          </a:prstGeom>
        </p:spPr>
      </p:pic>
      <p:pic>
        <p:nvPicPr>
          <p:cNvPr id="39" name="Picture 2" descr="New releases: InterPro 86.0 and InterProScan 5.52-86.0 | EMBL-EBI">
            <a:extLst>
              <a:ext uri="{FF2B5EF4-FFF2-40B4-BE49-F238E27FC236}">
                <a16:creationId xmlns:a16="http://schemas.microsoft.com/office/drawing/2014/main" id="{2740889C-6252-E96D-8E55-6A44E6CCD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585" y="1588919"/>
            <a:ext cx="1888748" cy="60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388B68A-566B-79B9-8061-33FF2B99B9DB}"/>
              </a:ext>
            </a:extLst>
          </p:cNvPr>
          <p:cNvCxnSpPr/>
          <p:nvPr/>
        </p:nvCxnSpPr>
        <p:spPr>
          <a:xfrm>
            <a:off x="3947195" y="2766525"/>
            <a:ext cx="4357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393D0F0-7C67-DACA-EA61-55E36C97572C}"/>
              </a:ext>
            </a:extLst>
          </p:cNvPr>
          <p:cNvCxnSpPr/>
          <p:nvPr/>
        </p:nvCxnSpPr>
        <p:spPr>
          <a:xfrm>
            <a:off x="7782320" y="2766525"/>
            <a:ext cx="4357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055690D6-2531-E1CA-27D1-FC491A389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58" y="3545230"/>
            <a:ext cx="4491749" cy="231330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8E11E19-EE22-44A9-A3D3-CD9C09DF7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1673" y="3545229"/>
            <a:ext cx="5944047" cy="23029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9187385C-8F03-91D3-9B9C-2C5E9D1BA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" y="3914123"/>
            <a:ext cx="3409902" cy="18345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BCFE947-9220-C4C6-F7F9-8773B1DAE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8860"/>
            <a:ext cx="3409902" cy="1834567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48640" y="51333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 3 - Large Language Model 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16280" y="2136902"/>
            <a:ext cx="512064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CONFIGURAÇÃO</a:t>
            </a:r>
            <a:endParaRPr lang="en-US" sz="1400" dirty="0"/>
          </a:p>
          <a:p>
            <a:endParaRPr lang="en-US" sz="1350" dirty="0">
              <a:solidFill>
                <a:srgbClr val="243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 (8B) local, via </a:t>
            </a: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350" dirty="0">
              <a:solidFill>
                <a:srgbClr val="243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50" dirty="0">
              <a:solidFill>
                <a:srgbClr val="243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r>
              <a:rPr lang="en-US" sz="13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</a:t>
            </a:r>
            <a:r>
              <a:rPr lang="en-US" sz="13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</a:t>
            </a:r>
            <a:endParaRPr lang="en-US" sz="1350" dirty="0">
              <a:solidFill>
                <a:srgbClr val="243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50" dirty="0">
              <a:solidFill>
                <a:srgbClr val="243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</a:t>
            </a: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r>
              <a:rPr lang="en-US" sz="13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</a:t>
            </a:r>
            <a:endParaRPr lang="en-US" sz="1350" dirty="0"/>
          </a:p>
          <a:p>
            <a:endParaRPr lang="en-US" sz="1350" dirty="0"/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8180" y="4692391"/>
            <a:ext cx="5120640" cy="952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00" dirty="0">
                <a:solidFill>
                  <a:srgbClr val="1C7293"/>
                </a:solidFill>
                <a:latin typeface="Trebuchet MS" pitchFamily="34" charset="0"/>
              </a:rPr>
              <a:t>UTILIZAÇÃO</a:t>
            </a:r>
            <a:endParaRPr lang="en-US" sz="1400" dirty="0"/>
          </a:p>
          <a:p>
            <a:endParaRPr lang="en-US" sz="1350" dirty="0">
              <a:solidFill>
                <a:srgbClr val="243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</a:t>
            </a:r>
            <a:r>
              <a:rPr lang="en-US" sz="13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perfil </a:t>
            </a: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</a:t>
            </a:r>
            <a:r>
              <a:rPr lang="en-US" sz="13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</a:t>
            </a:r>
            <a:endParaRPr lang="en-US" sz="1350" dirty="0">
              <a:solidFill>
                <a:srgbClr val="243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50" dirty="0">
              <a:solidFill>
                <a:srgbClr val="243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Damos um prompt com </a:t>
            </a: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</a:t>
            </a:r>
            <a:r>
              <a:rPr lang="en-US" sz="13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claras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50" dirty="0">
              <a:solidFill>
                <a:srgbClr val="243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Recebemos</a:t>
            </a:r>
            <a:r>
              <a:rPr lang="en-US" sz="13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JSON </a:t>
            </a:r>
            <a:r>
              <a:rPr lang="en-US" sz="1350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estruturado</a:t>
            </a:r>
            <a:r>
              <a:rPr lang="en-US" sz="13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volta</a:t>
            </a:r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475720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80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24E516-A827-6BE9-5B75-8DA2E7A516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015"/>
          <a:stretch>
            <a:fillRect/>
          </a:stretch>
        </p:blipFill>
        <p:spPr>
          <a:xfrm>
            <a:off x="4391977" y="1322642"/>
            <a:ext cx="7289483" cy="5191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10">
            <a:extLst>
              <a:ext uri="{FF2B5EF4-FFF2-40B4-BE49-F238E27FC236}">
                <a16:creationId xmlns:a16="http://schemas.microsoft.com/office/drawing/2014/main" id="{0703CC94-A1BC-3C6D-BB02-F938C9E877B7}"/>
              </a:ext>
            </a:extLst>
          </p:cNvPr>
          <p:cNvSpPr/>
          <p:nvPr/>
        </p:nvSpPr>
        <p:spPr>
          <a:xfrm>
            <a:off x="845186" y="2048402"/>
            <a:ext cx="2385695" cy="4352397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617220" y="41210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– </a:t>
            </a: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</a:t>
            </a:r>
            <a:r>
              <a:rPr lang="en-US" sz="28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 </a:t>
            </a: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75667" y="1319022"/>
            <a:ext cx="2385695" cy="640080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921843" y="1354455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CAMPOS DE IDENTIDADE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21843" y="16226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nome · organismo · estado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1387" y="20711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SECÇÕES DE RESUMO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1387" y="2401001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TIPO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1387" y="2721041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Resumo geral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1387" y="3050225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GO terms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1387" y="3379409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Enzimas (EC)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1387" y="370859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Domínios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1387" y="4037777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Vias e contexto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7107" y="443731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FIABILIDADE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1387" y="468884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Evidência curada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21387" y="501803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Predições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1387" y="534721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Conflitos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1387" y="567639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Lacunas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1387" y="600558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Notas de revisão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475720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80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28199A8-25B7-B42A-C1DE-8DF4F70B4F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630"/>
          <a:stretch>
            <a:fillRect/>
          </a:stretch>
        </p:blipFill>
        <p:spPr>
          <a:xfrm>
            <a:off x="4201568" y="1303394"/>
            <a:ext cx="6946184" cy="48879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Streamlit: </a:t>
            </a: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Relatório</a:t>
            </a:r>
            <a:r>
              <a:rPr lang="en-US" sz="28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final interativo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589520" y="21762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E2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Visão</a:t>
            </a:r>
            <a:r>
              <a:rPr lang="en-US" sz="1300" b="1" dirty="0">
                <a:solidFill>
                  <a:srgbClr val="0E2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global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0" y="24871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r>
              <a:rPr lang="en-US" sz="1200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dirty="0" err="1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estatísticas</a:t>
            </a:r>
            <a:r>
              <a:rPr lang="en-US" sz="1200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29626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filtrável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0" y="3273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e filtrar por múltiplos critérios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Ficha por proteína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89520" y="40599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GO, enzimas, domínios, vias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45354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E2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Resumos</a:t>
            </a:r>
            <a:r>
              <a:rPr lang="en-US" sz="1300" b="1" dirty="0">
                <a:solidFill>
                  <a:srgbClr val="0E2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300" b="1" dirty="0" err="1">
                <a:solidFill>
                  <a:srgbClr val="0E2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89520" y="4846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5321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Exportação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56327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 JSON para integração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80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000" dirty="0"/>
          </a:p>
        </p:txBody>
      </p:sp>
      <p:pic>
        <p:nvPicPr>
          <p:cNvPr id="2052" name="Picture 4" descr="Streamlit: Build Interactive Web Apps with Just Python | Folder IT">
            <a:extLst>
              <a:ext uri="{FF2B5EF4-FFF2-40B4-BE49-F238E27FC236}">
                <a16:creationId xmlns:a16="http://schemas.microsoft.com/office/drawing/2014/main" id="{E526BD69-4DB9-FBBD-5010-E9E91844D6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4" b="8396"/>
          <a:stretch>
            <a:fillRect/>
          </a:stretch>
        </p:blipFill>
        <p:spPr bwMode="auto">
          <a:xfrm>
            <a:off x="962628" y="2176272"/>
            <a:ext cx="5415023" cy="345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3439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</a:t>
            </a:r>
            <a:r>
              <a:rPr lang="en-US" sz="28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</a:t>
            </a: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Relatório</a:t>
            </a:r>
            <a:r>
              <a:rPr lang="en-US" sz="28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final do dataset original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9440" y="107447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00" dirty="0">
                <a:solidFill>
                  <a:srgbClr val="1C7293"/>
                </a:solidFill>
                <a:latin typeface="Trebuchet MS" panose="020B0603020202020204" pitchFamily="34" charset="0"/>
                <a:ea typeface="Trebuchet MS" pitchFamily="34" charset="-122"/>
                <a:cs typeface="Trebuchet MS" pitchFamily="34" charset="-120"/>
              </a:rPr>
              <a:t>VISÃO GLOBAL </a:t>
            </a:r>
            <a:endParaRPr lang="en-US" sz="1100" b="1" dirty="0">
              <a:latin typeface="Trebuchet MS" panose="020B06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94400" y="107447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PROTEÍNA INDIVIDUAL — Q46505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75720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80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738D1BA-D4DD-F626-256A-E3FDE5C68A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0"/>
          <a:stretch>
            <a:fillRect/>
          </a:stretch>
        </p:blipFill>
        <p:spPr>
          <a:xfrm>
            <a:off x="548640" y="1562464"/>
            <a:ext cx="5052911" cy="46514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E0ECE3-D498-6BEC-E455-A79CB3072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1590032"/>
            <a:ext cx="4618124" cy="43272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3880" y="396027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</a:rPr>
              <a:t>Resultados</a:t>
            </a:r>
            <a:r>
              <a:rPr lang="en-US" sz="2800" b="1" dirty="0">
                <a:solidFill>
                  <a:srgbClr val="0E2A3B"/>
                </a:solidFill>
                <a:latin typeface="Georgia" pitchFamily="34" charset="0"/>
              </a:rPr>
              <a:t> – Dataset </a:t>
            </a: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</a:rPr>
              <a:t>representativo</a:t>
            </a:r>
            <a:r>
              <a:rPr lang="en-US" sz="2800" b="1" dirty="0">
                <a:solidFill>
                  <a:srgbClr val="0E2A3B"/>
                </a:solidFill>
                <a:latin typeface="Georgia" pitchFamily="34" charset="0"/>
              </a:rPr>
              <a:t> (25 </a:t>
            </a:r>
            <a:r>
              <a:rPr lang="en-US" sz="2800" b="1" dirty="0" err="1">
                <a:solidFill>
                  <a:srgbClr val="0E2A3B"/>
                </a:solidFill>
                <a:latin typeface="Georgia" pitchFamily="34" charset="0"/>
              </a:rPr>
              <a:t>proteínas</a:t>
            </a:r>
            <a:r>
              <a:rPr lang="en-US" sz="2800" b="1" dirty="0">
                <a:solidFill>
                  <a:srgbClr val="0E2A3B"/>
                </a:solidFill>
                <a:latin typeface="Georgia" pitchFamily="34" charset="0"/>
              </a:rPr>
              <a:t>)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11480" y="281711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1475720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80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46" name="big2">
            <a:extLst>
              <a:ext uri="{FF2B5EF4-FFF2-40B4-BE49-F238E27FC236}">
                <a16:creationId xmlns:a16="http://schemas.microsoft.com/office/drawing/2014/main" id="{F1A6FBA2-0F57-0E7E-69F3-F99E8D8B395E}"/>
              </a:ext>
            </a:extLst>
          </p:cNvPr>
          <p:cNvSpPr/>
          <p:nvPr/>
        </p:nvSpPr>
        <p:spPr>
          <a:xfrm>
            <a:off x="3331464" y="42237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pt-PT" sz="5400" b="1" kern="0" dirty="0">
              <a:solidFill>
                <a:srgbClr val="1C7293"/>
              </a:solidFill>
              <a:latin typeface="Georgia"/>
              <a:ea typeface="Georgia"/>
              <a:cs typeface="Georgia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7065F0D-2FF4-E729-C82F-5892CD309D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04"/>
          <a:stretch>
            <a:fillRect/>
          </a:stretch>
        </p:blipFill>
        <p:spPr>
          <a:xfrm>
            <a:off x="4902126" y="1477008"/>
            <a:ext cx="6878394" cy="48327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5208271-05F7-F65F-498A-2A402172DC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978" t="45168" r="24442" b="19058"/>
          <a:stretch>
            <a:fillRect/>
          </a:stretch>
        </p:blipFill>
        <p:spPr>
          <a:xfrm>
            <a:off x="813290" y="2575535"/>
            <a:ext cx="2874790" cy="149018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0A1AAFC-D739-77DB-A6F5-5E402C5043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570" t="9747" r="24850" b="54480"/>
          <a:stretch>
            <a:fillRect/>
          </a:stretch>
        </p:blipFill>
        <p:spPr>
          <a:xfrm>
            <a:off x="741680" y="3870053"/>
            <a:ext cx="2946400" cy="1490189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0C4D8763-97EB-952E-1E0D-E6DB00427B67}"/>
              </a:ext>
            </a:extLst>
          </p:cNvPr>
          <p:cNvSpPr txBox="1"/>
          <p:nvPr/>
        </p:nvSpPr>
        <p:spPr>
          <a:xfrm>
            <a:off x="509279" y="976395"/>
            <a:ext cx="40081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  <a:latin typeface="Georgia" panose="02040502050405020303" pitchFamily="18" charset="0"/>
              </a:rPr>
              <a:t>25/25 </a:t>
            </a:r>
            <a:r>
              <a:rPr lang="en-US" sz="1400" b="1" dirty="0" err="1">
                <a:solidFill>
                  <a:schemeClr val="accent6"/>
                </a:solidFill>
                <a:latin typeface="Georgia" panose="02040502050405020303" pitchFamily="18" charset="0"/>
              </a:rPr>
              <a:t>processadas</a:t>
            </a:r>
            <a:r>
              <a:rPr lang="en-US" sz="1400" b="1" dirty="0">
                <a:solidFill>
                  <a:schemeClr val="accent6"/>
                </a:solidFill>
                <a:latin typeface="Georgia" panose="02040502050405020303" pitchFamily="18" charset="0"/>
              </a:rPr>
              <a:t>:</a:t>
            </a:r>
            <a:endParaRPr lang="en-US" sz="2000" b="1" dirty="0">
              <a:solidFill>
                <a:schemeClr val="accent6"/>
              </a:solidFill>
              <a:latin typeface="Georgia" panose="02040502050405020303" pitchFamily="18" charset="0"/>
            </a:endParaRPr>
          </a:p>
          <a:p>
            <a:r>
              <a:rPr lang="en-US" sz="1600" b="1" dirty="0">
                <a:solidFill>
                  <a:srgbClr val="0E2A3B"/>
                </a:solidFill>
                <a:latin typeface="Georgia" panose="02040502050405020303" pitchFamily="18" charset="0"/>
              </a:rPr>
              <a:t>	</a:t>
            </a:r>
          </a:p>
          <a:p>
            <a:r>
              <a:rPr lang="pt-PT" sz="1600" b="1" dirty="0">
                <a:latin typeface="Georgia" panose="02040502050405020303" pitchFamily="18" charset="0"/>
              </a:rPr>
              <a:t>23/25</a:t>
            </a:r>
            <a:r>
              <a:rPr lang="pt-PT" sz="1400" dirty="0">
                <a:latin typeface="Georgia" panose="02040502050405020303" pitchFamily="18" charset="0"/>
              </a:rPr>
              <a:t> - resumos válidos sem aviso</a:t>
            </a:r>
          </a:p>
          <a:p>
            <a:r>
              <a:rPr lang="en-US" sz="1400" b="1" dirty="0">
                <a:solidFill>
                  <a:srgbClr val="0E2A3B"/>
                </a:solidFill>
                <a:latin typeface="Georgia" panose="02040502050405020303" pitchFamily="18" charset="0"/>
              </a:rPr>
              <a:t> 	</a:t>
            </a:r>
          </a:p>
          <a:p>
            <a:r>
              <a:rPr lang="pt-PT" sz="1600" b="1" dirty="0">
                <a:latin typeface="Georgia" panose="02040502050405020303" pitchFamily="18" charset="0"/>
              </a:rPr>
              <a:t>2/25</a:t>
            </a:r>
            <a:r>
              <a:rPr lang="pt-PT" sz="1400" dirty="0">
                <a:latin typeface="Georgia" panose="02040502050405020303" pitchFamily="18" charset="0"/>
              </a:rPr>
              <a:t> - com aviso </a:t>
            </a:r>
            <a:r>
              <a:rPr lang="pt-PT" sz="1400" i="1" dirty="0">
                <a:latin typeface="Georgia" panose="02040502050405020303" pitchFamily="18" charset="0"/>
              </a:rPr>
              <a:t>(função reportada vazia em proteínas ML-</a:t>
            </a:r>
            <a:r>
              <a:rPr lang="pt-PT" sz="1400" i="1" dirty="0" err="1">
                <a:latin typeface="Georgia" panose="02040502050405020303" pitchFamily="18" charset="0"/>
              </a:rPr>
              <a:t>only</a:t>
            </a:r>
            <a:r>
              <a:rPr lang="pt-PT" sz="1400" i="1" dirty="0">
                <a:latin typeface="Georgia" panose="02040502050405020303" pitchFamily="18" charset="0"/>
              </a:rPr>
              <a:t>)</a:t>
            </a:r>
            <a:endParaRPr lang="pt-PT" sz="1400" dirty="0">
              <a:latin typeface="Georgia" panose="02040502050405020303" pitchFamily="18" charset="0"/>
            </a:endParaRPr>
          </a:p>
          <a:p>
            <a:r>
              <a:rPr lang="en-US" sz="1600" b="1" dirty="0">
                <a:solidFill>
                  <a:srgbClr val="0E2A3B"/>
                </a:solidFill>
                <a:latin typeface="Georgia" pitchFamily="34" charset="0"/>
              </a:rPr>
              <a:t>	</a:t>
            </a:r>
            <a:r>
              <a:rPr lang="pt-PT" sz="1600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A022E6-FBBB-C5FD-BCA7-53B23E437B42}"/>
              </a:ext>
            </a:extLst>
          </p:cNvPr>
          <p:cNvSpPr txBox="1"/>
          <p:nvPr/>
        </p:nvSpPr>
        <p:spPr>
          <a:xfrm>
            <a:off x="643268" y="5360242"/>
            <a:ext cx="3740141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600" b="1" dirty="0">
                <a:latin typeface="Georgia" panose="02040502050405020303" pitchFamily="18" charset="0"/>
              </a:rPr>
              <a:t>Sem alucinações aparentes</a:t>
            </a:r>
            <a:r>
              <a:rPr lang="pt-PT" dirty="0">
                <a:latin typeface="Georgia" panose="02040502050405020303" pitchFamily="18" charset="0"/>
              </a:rPr>
              <a:t> </a:t>
            </a:r>
            <a:r>
              <a:rPr lang="pt-PT" sz="1400" dirty="0">
                <a:latin typeface="Georgia" panose="02040502050405020303" pitchFamily="18" charset="0"/>
              </a:rPr>
              <a:t>Resultados inspecionados manualmente e não foram detetados identificadores ou afirmações sem suporte no input</a:t>
            </a:r>
            <a:r>
              <a:rPr lang="pt-PT" sz="1600" dirty="0">
                <a:latin typeface="Georgia" panose="02040502050405020303" pitchFamily="18" charset="0"/>
              </a:rPr>
              <a:t>.</a:t>
            </a:r>
            <a:endParaRPr lang="en-US" b="1" dirty="0">
              <a:solidFill>
                <a:srgbClr val="0E2A3B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28"/>
          <p:cNvSpPr/>
          <p:nvPr/>
        </p:nvSpPr>
        <p:spPr>
          <a:xfrm>
            <a:off x="11475720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80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57EFA92F-02CD-16D5-F51D-EA866C6BAC45}"/>
              </a:ext>
            </a:extLst>
          </p:cNvPr>
          <p:cNvSpPr/>
          <p:nvPr/>
        </p:nvSpPr>
        <p:spPr>
          <a:xfrm>
            <a:off x="701040" y="5181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da proteína Q46505</a:t>
            </a:r>
            <a:endParaRPr lang="en-US" sz="28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1E54F81A-B735-0636-24A7-3A60B6B5B376}"/>
              </a:ext>
            </a:extLst>
          </p:cNvPr>
          <p:cNvSpPr/>
          <p:nvPr/>
        </p:nvSpPr>
        <p:spPr>
          <a:xfrm>
            <a:off x="701040" y="1112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NADP-reducing hydrogenase subunit HndA · Solidesulfovibrio fructosivorans · 171 aa</a:t>
            </a:r>
            <a:endParaRPr lang="en-US" sz="1400" dirty="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13E3FF99-3B09-4908-5242-B3B1836766E5}"/>
              </a:ext>
            </a:extLst>
          </p:cNvPr>
          <p:cNvSpPr/>
          <p:nvPr/>
        </p:nvSpPr>
        <p:spPr>
          <a:xfrm>
            <a:off x="701040" y="1661160"/>
            <a:ext cx="5029200" cy="4251960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CAFFBC92-5510-CB26-8ED4-A5EFCC1C7C64}"/>
              </a:ext>
            </a:extLst>
          </p:cNvPr>
          <p:cNvSpPr/>
          <p:nvPr/>
        </p:nvSpPr>
        <p:spPr>
          <a:xfrm>
            <a:off x="929640" y="1889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080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— 6 FERRAMENTAS</a:t>
            </a:r>
            <a:endParaRPr lang="en-US" sz="12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1E73AB9D-E615-2446-AA69-4BC339FCE0C2}"/>
              </a:ext>
            </a:extLst>
          </p:cNvPr>
          <p:cNvSpPr/>
          <p:nvPr/>
        </p:nvSpPr>
        <p:spPr>
          <a:xfrm>
            <a:off x="929640" y="2255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</a:t>
            </a:r>
            <a:endParaRPr lang="en-US" sz="40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8DBFAEC3-08C3-4020-9252-071FD6DF8AB1}"/>
              </a:ext>
            </a:extLst>
          </p:cNvPr>
          <p:cNvSpPr/>
          <p:nvPr/>
        </p:nvSpPr>
        <p:spPr>
          <a:xfrm>
            <a:off x="1703832" y="25206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terms</a:t>
            </a:r>
            <a:endParaRPr lang="en-US" sz="150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6F3D9DA9-AADE-837E-BCED-81EA0821B948}"/>
              </a:ext>
            </a:extLst>
          </p:cNvPr>
          <p:cNvSpPr/>
          <p:nvPr/>
        </p:nvSpPr>
        <p:spPr>
          <a:xfrm>
            <a:off x="1703832" y="2840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BP · 25 MF · 19 CC</a:t>
            </a:r>
            <a:endParaRPr lang="en-US" sz="11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EB576189-B6AF-E324-93F9-5F85D2C36547}"/>
              </a:ext>
            </a:extLst>
          </p:cNvPr>
          <p:cNvSpPr/>
          <p:nvPr/>
        </p:nvSpPr>
        <p:spPr>
          <a:xfrm>
            <a:off x="929640" y="3169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6C467EA-6A00-14CA-2288-96582420F176}"/>
              </a:ext>
            </a:extLst>
          </p:cNvPr>
          <p:cNvSpPr/>
          <p:nvPr/>
        </p:nvSpPr>
        <p:spPr>
          <a:xfrm>
            <a:off x="1703832" y="3389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domínios e famílias</a:t>
            </a:r>
            <a:endParaRPr lang="en-US" sz="1500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D329E99B-0F79-FE16-7BB2-BFF05E3E5590}"/>
              </a:ext>
            </a:extLst>
          </p:cNvPr>
          <p:cNvSpPr/>
          <p:nvPr/>
        </p:nvSpPr>
        <p:spPr>
          <a:xfrm>
            <a:off x="1703832" y="3709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Pfam · COG · TIGRFAM · ...</a:t>
            </a:r>
            <a:endParaRPr lang="en-US" sz="11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A1E79895-3196-807C-2238-32F49DAA5DE2}"/>
              </a:ext>
            </a:extLst>
          </p:cNvPr>
          <p:cNvSpPr/>
          <p:nvPr/>
        </p:nvSpPr>
        <p:spPr>
          <a:xfrm>
            <a:off x="926592" y="399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3E33D4E9-D6C6-72BC-62B2-365DCA5E2491}"/>
              </a:ext>
            </a:extLst>
          </p:cNvPr>
          <p:cNvSpPr/>
          <p:nvPr/>
        </p:nvSpPr>
        <p:spPr>
          <a:xfrm>
            <a:off x="1703832" y="42915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EC</a:t>
            </a:r>
            <a:endParaRPr lang="en-US" sz="150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9D21895C-CCA5-853B-13F1-C19DF26B48CA}"/>
              </a:ext>
            </a:extLst>
          </p:cNvPr>
          <p:cNvSpPr/>
          <p:nvPr/>
        </p:nvSpPr>
        <p:spPr>
          <a:xfrm>
            <a:off x="1703832" y="4611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eggNOG, CLEAN e reCOGnizer</a:t>
            </a:r>
            <a:endParaRPr lang="en-US" sz="11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4B25A9B5-D937-7F4D-00AF-65956CA9EB84}"/>
              </a:ext>
            </a:extLst>
          </p:cNvPr>
          <p:cNvSpPr/>
          <p:nvPr/>
        </p:nvSpPr>
        <p:spPr>
          <a:xfrm>
            <a:off x="1127760" y="591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6 ficheiros, formatos diferentes, sobreposições e conflitos.</a:t>
            </a:r>
            <a:endParaRPr lang="en-US" sz="120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F6A362BC-79ED-834D-0D08-746E55249C51}"/>
              </a:ext>
            </a:extLst>
          </p:cNvPr>
          <p:cNvSpPr/>
          <p:nvPr/>
        </p:nvSpPr>
        <p:spPr>
          <a:xfrm>
            <a:off x="5867400" y="3467100"/>
            <a:ext cx="502920" cy="640080"/>
          </a:xfrm>
          <a:prstGeom prst="rightArrow">
            <a:avLst/>
          </a:prstGeom>
          <a:solidFill>
            <a:srgbClr val="5A9BB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8456E458-273C-A87D-EBB5-689D1BD89CAB}"/>
              </a:ext>
            </a:extLst>
          </p:cNvPr>
          <p:cNvSpPr/>
          <p:nvPr/>
        </p:nvSpPr>
        <p:spPr>
          <a:xfrm>
            <a:off x="6736080" y="1661160"/>
            <a:ext cx="5029200" cy="4251960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37D6DB2B-77C6-4F90-8D09-5F54F3B237C6}"/>
              </a:ext>
            </a:extLst>
          </p:cNvPr>
          <p:cNvSpPr/>
          <p:nvPr/>
        </p:nvSpPr>
        <p:spPr>
          <a:xfrm>
            <a:off x="6964680" y="1889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1 — PRÉ-PROCESSAMENTO</a:t>
            </a:r>
            <a:endParaRPr lang="en-US" sz="120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F9391754-2184-539D-0891-283917A8AD2A}"/>
              </a:ext>
            </a:extLst>
          </p:cNvPr>
          <p:cNvSpPr/>
          <p:nvPr/>
        </p:nvSpPr>
        <p:spPr>
          <a:xfrm>
            <a:off x="6964680" y="2301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no mesmo esquema</a:t>
            </a:r>
            <a:endParaRPr lang="en-US" sz="2000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858A7C74-BFAF-F70F-6C4F-AEF22CA479F3}"/>
              </a:ext>
            </a:extLst>
          </p:cNvPr>
          <p:cNvSpPr/>
          <p:nvPr/>
        </p:nvSpPr>
        <p:spPr>
          <a:xfrm>
            <a:off x="6964680" y="2941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</a:t>
            </a:r>
            <a:endParaRPr lang="en-US" sz="480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77DCEDFF-015F-C727-02AA-C9D530A6A665}"/>
              </a:ext>
            </a:extLst>
          </p:cNvPr>
          <p:cNvSpPr/>
          <p:nvPr/>
        </p:nvSpPr>
        <p:spPr>
          <a:xfrm>
            <a:off x="8199120" y="34076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registos</a:t>
            </a:r>
            <a:endParaRPr lang="en-US" sz="1400" dirty="0"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B7F21B40-2092-8F84-1C2C-2DD68E081A08}"/>
              </a:ext>
            </a:extLst>
          </p:cNvPr>
          <p:cNvSpPr/>
          <p:nvPr/>
        </p:nvSpPr>
        <p:spPr>
          <a:xfrm>
            <a:off x="7010400" y="40843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4F919222-0A51-B55D-5D58-2617E130E458}"/>
              </a:ext>
            </a:extLst>
          </p:cNvPr>
          <p:cNvSpPr/>
          <p:nvPr/>
        </p:nvSpPr>
        <p:spPr>
          <a:xfrm>
            <a:off x="7239000" y="39928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único em formato longo</a:t>
            </a:r>
            <a:endParaRPr lang="en-US" sz="1250" dirty="0"/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C0AA1A87-D348-F9AC-B6F9-C3CF8672F5E5}"/>
              </a:ext>
            </a:extLst>
          </p:cNvPr>
          <p:cNvSpPr/>
          <p:nvPr/>
        </p:nvSpPr>
        <p:spPr>
          <a:xfrm>
            <a:off x="7010400" y="446836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B445314B-BD95-FFD1-758B-EF07D46FA942}"/>
              </a:ext>
            </a:extLst>
          </p:cNvPr>
          <p:cNvSpPr/>
          <p:nvPr/>
        </p:nvSpPr>
        <p:spPr>
          <a:xfrm>
            <a:off x="7239000" y="437692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preservada em cada registo</a:t>
            </a:r>
            <a:endParaRPr lang="en-US" sz="1250" dirty="0"/>
          </a:p>
        </p:txBody>
      </p:sp>
      <p:sp>
        <p:nvSpPr>
          <p:cNvPr id="57" name="Shape 25">
            <a:extLst>
              <a:ext uri="{FF2B5EF4-FFF2-40B4-BE49-F238E27FC236}">
                <a16:creationId xmlns:a16="http://schemas.microsoft.com/office/drawing/2014/main" id="{2186577C-F7C6-60CE-26C2-2042AE7FA163}"/>
              </a:ext>
            </a:extLst>
          </p:cNvPr>
          <p:cNvSpPr/>
          <p:nvPr/>
        </p:nvSpPr>
        <p:spPr>
          <a:xfrm>
            <a:off x="7010400" y="485241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9D4D8666-4EAE-3C26-F812-C7F68D8CB452}"/>
              </a:ext>
            </a:extLst>
          </p:cNvPr>
          <p:cNvSpPr/>
          <p:nvPr/>
        </p:nvSpPr>
        <p:spPr>
          <a:xfrm>
            <a:off x="7239000" y="476097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categorizada (alto / médio / baixo)</a:t>
            </a:r>
            <a:endParaRPr lang="en-US" sz="1250" dirty="0"/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19C3B34E-0FD8-8A1F-0A84-7477995AE7B0}"/>
              </a:ext>
            </a:extLst>
          </p:cNvPr>
          <p:cNvSpPr/>
          <p:nvPr/>
        </p:nvSpPr>
        <p:spPr>
          <a:xfrm>
            <a:off x="7010400" y="52364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67A60748-E41C-61BC-A9F4-7CC2A2E20A3B}"/>
              </a:ext>
            </a:extLst>
          </p:cNvPr>
          <p:cNvSpPr/>
          <p:nvPr/>
        </p:nvSpPr>
        <p:spPr>
          <a:xfrm>
            <a:off x="7239000" y="514502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ferramentas tornada possível</a:t>
            </a:r>
            <a:endParaRPr lang="en-US" sz="1250" dirty="0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09425A59-C191-83B1-87ED-C282C47761F4}"/>
              </a:ext>
            </a:extLst>
          </p:cNvPr>
          <p:cNvSpPr/>
          <p:nvPr/>
        </p:nvSpPr>
        <p:spPr>
          <a:xfrm>
            <a:off x="8999220" y="6096000"/>
            <a:ext cx="502920" cy="640080"/>
          </a:xfrm>
          <a:prstGeom prst="downArrow">
            <a:avLst/>
          </a:prstGeom>
          <a:solidFill>
            <a:srgbClr val="5A9BB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6FF058E4-4B84-B871-1C27-FB72D21A4870}"/>
              </a:ext>
            </a:extLst>
          </p:cNvPr>
          <p:cNvSpPr/>
          <p:nvPr/>
        </p:nvSpPr>
        <p:spPr>
          <a:xfrm>
            <a:off x="926592" y="493471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2A3B"/>
                </a:solidFill>
                <a:latin typeface="Georgia" pitchFamily="34" charset="0"/>
              </a:rPr>
              <a:t>18</a:t>
            </a:r>
            <a:endParaRPr lang="en-US" sz="4800" dirty="0"/>
          </a:p>
        </p:txBody>
      </p:sp>
      <p:sp>
        <p:nvSpPr>
          <p:cNvPr id="64" name="Text 5">
            <a:extLst>
              <a:ext uri="{FF2B5EF4-FFF2-40B4-BE49-F238E27FC236}">
                <a16:creationId xmlns:a16="http://schemas.microsoft.com/office/drawing/2014/main" id="{652DA3EA-CBC0-6ADE-CE22-1C441F628F0F}"/>
              </a:ext>
            </a:extLst>
          </p:cNvPr>
          <p:cNvSpPr/>
          <p:nvPr/>
        </p:nvSpPr>
        <p:spPr>
          <a:xfrm>
            <a:off x="1684020" y="51114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</a:t>
            </a:r>
            <a:r>
              <a:rPr lang="en-US" sz="1500" b="1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anotações</a:t>
            </a:r>
            <a:endParaRPr lang="en-US" sz="1500" dirty="0"/>
          </a:p>
        </p:txBody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743AB5DB-FB03-F948-7ABB-347C8E236DD7}"/>
              </a:ext>
            </a:extLst>
          </p:cNvPr>
          <p:cNvSpPr/>
          <p:nvPr/>
        </p:nvSpPr>
        <p:spPr>
          <a:xfrm>
            <a:off x="1684020" y="5431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 err="1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Descrições</a:t>
            </a:r>
            <a:r>
              <a:rPr lang="en-US" sz="1100" i="1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i="1" dirty="0" err="1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ortólogos</a:t>
            </a:r>
            <a:r>
              <a:rPr lang="en-US" sz="1100" i="1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vias,…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26"/>
          <p:cNvSpPr/>
          <p:nvPr/>
        </p:nvSpPr>
        <p:spPr>
          <a:xfrm>
            <a:off x="11475720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80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  <p:sp>
        <p:nvSpPr>
          <p:cNvPr id="63" name="Shape 0">
            <a:extLst>
              <a:ext uri="{FF2B5EF4-FFF2-40B4-BE49-F238E27FC236}">
                <a16:creationId xmlns:a16="http://schemas.microsoft.com/office/drawing/2014/main" id="{F44497BC-0970-CD85-2A22-45CF17FA7259}"/>
              </a:ext>
            </a:extLst>
          </p:cNvPr>
          <p:cNvSpPr/>
          <p:nvPr/>
        </p:nvSpPr>
        <p:spPr>
          <a:xfrm>
            <a:off x="2697480" y="417576"/>
            <a:ext cx="502920" cy="640080"/>
          </a:xfrm>
          <a:prstGeom prst="downArrow">
            <a:avLst/>
          </a:prstGeom>
          <a:solidFill>
            <a:srgbClr val="5A9BB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4" name="Shape 1">
            <a:extLst>
              <a:ext uri="{FF2B5EF4-FFF2-40B4-BE49-F238E27FC236}">
                <a16:creationId xmlns:a16="http://schemas.microsoft.com/office/drawing/2014/main" id="{19F75236-656C-F936-E653-EA868AE75B7C}"/>
              </a:ext>
            </a:extLst>
          </p:cNvPr>
          <p:cNvSpPr/>
          <p:nvPr/>
        </p:nvSpPr>
        <p:spPr>
          <a:xfrm>
            <a:off x="701040" y="1341120"/>
            <a:ext cx="5029200" cy="4937760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5" name="Text 2">
            <a:extLst>
              <a:ext uri="{FF2B5EF4-FFF2-40B4-BE49-F238E27FC236}">
                <a16:creationId xmlns:a16="http://schemas.microsoft.com/office/drawing/2014/main" id="{AA8DC44D-9F72-EAE0-748E-D0A5803E5C85}"/>
              </a:ext>
            </a:extLst>
          </p:cNvPr>
          <p:cNvSpPr/>
          <p:nvPr/>
        </p:nvSpPr>
        <p:spPr>
          <a:xfrm>
            <a:off x="929640" y="1569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2 — ENRIQUECIMENTO</a:t>
            </a:r>
            <a:endParaRPr lang="en-US" sz="1200" dirty="0"/>
          </a:p>
        </p:txBody>
      </p:sp>
      <p:sp>
        <p:nvSpPr>
          <p:cNvPr id="66" name="Text 3">
            <a:extLst>
              <a:ext uri="{FF2B5EF4-FFF2-40B4-BE49-F238E27FC236}">
                <a16:creationId xmlns:a16="http://schemas.microsoft.com/office/drawing/2014/main" id="{267099E1-1E53-02FD-5A0C-E16BDE177ECA}"/>
              </a:ext>
            </a:extLst>
          </p:cNvPr>
          <p:cNvSpPr/>
          <p:nvPr/>
        </p:nvSpPr>
        <p:spPr>
          <a:xfrm>
            <a:off x="929640" y="2026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acrescenta</a:t>
            </a:r>
            <a:endParaRPr lang="en-US" sz="1600" dirty="0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807610B7-2605-66C4-EC24-64E0739763DF}"/>
              </a:ext>
            </a:extLst>
          </p:cNvPr>
          <p:cNvSpPr/>
          <p:nvPr/>
        </p:nvSpPr>
        <p:spPr>
          <a:xfrm>
            <a:off x="1066800" y="24841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Função curada: "Catalyzes the reduction of NADP in the presence of H₂..."</a:t>
            </a:r>
            <a:endParaRPr lang="en-US" sz="1200" dirty="0"/>
          </a:p>
        </p:txBody>
      </p:sp>
      <p:sp>
        <p:nvSpPr>
          <p:cNvPr id="68" name="Text 5">
            <a:extLst>
              <a:ext uri="{FF2B5EF4-FFF2-40B4-BE49-F238E27FC236}">
                <a16:creationId xmlns:a16="http://schemas.microsoft.com/office/drawing/2014/main" id="{3AA0994F-3D35-492C-C472-7DCE104B08AE}"/>
              </a:ext>
            </a:extLst>
          </p:cNvPr>
          <p:cNvSpPr/>
          <p:nvPr/>
        </p:nvSpPr>
        <p:spPr>
          <a:xfrm>
            <a:off x="1066800" y="30784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 1.12.1.3 (oficial)</a:t>
            </a:r>
            <a:endParaRPr lang="en-US" sz="1200" dirty="0"/>
          </a:p>
        </p:txBody>
      </p:sp>
      <p:sp>
        <p:nvSpPr>
          <p:cNvPr id="69" name="Text 6">
            <a:extLst>
              <a:ext uri="{FF2B5EF4-FFF2-40B4-BE49-F238E27FC236}">
                <a16:creationId xmlns:a16="http://schemas.microsoft.com/office/drawing/2014/main" id="{6FDF977A-4B24-9E6D-543E-3BBE199EF893}"/>
              </a:ext>
            </a:extLst>
          </p:cNvPr>
          <p:cNvSpPr/>
          <p:nvPr/>
        </p:nvSpPr>
        <p:spPr>
          <a:xfrm>
            <a:off x="1066800" y="36728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referências PubMed (ECO:0000269)</a:t>
            </a:r>
            <a:endParaRPr lang="en-US" sz="1200" dirty="0"/>
          </a:p>
        </p:txBody>
      </p:sp>
      <p:sp>
        <p:nvSpPr>
          <p:cNvPr id="70" name="Text 7">
            <a:extLst>
              <a:ext uri="{FF2B5EF4-FFF2-40B4-BE49-F238E27FC236}">
                <a16:creationId xmlns:a16="http://schemas.microsoft.com/office/drawing/2014/main" id="{EADA3099-99B8-B1EE-F9B4-9481CDCD0E7A}"/>
              </a:ext>
            </a:extLst>
          </p:cNvPr>
          <p:cNvSpPr/>
          <p:nvPr/>
        </p:nvSpPr>
        <p:spPr>
          <a:xfrm>
            <a:off x="929640" y="4404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InterPro acrescenta</a:t>
            </a:r>
            <a:endParaRPr lang="en-US" sz="1600" dirty="0"/>
          </a:p>
        </p:txBody>
      </p:sp>
      <p:sp>
        <p:nvSpPr>
          <p:cNvPr id="71" name="Text 8">
            <a:extLst>
              <a:ext uri="{FF2B5EF4-FFF2-40B4-BE49-F238E27FC236}">
                <a16:creationId xmlns:a16="http://schemas.microsoft.com/office/drawing/2014/main" id="{7FC4CAB5-3C1A-AA2B-36C0-FFDC722DFF22}"/>
              </a:ext>
            </a:extLst>
          </p:cNvPr>
          <p:cNvSpPr/>
          <p:nvPr/>
        </p:nvSpPr>
        <p:spPr>
          <a:xfrm>
            <a:off x="1066800" y="48615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PF01257 — Thioredoxin-like [2Fe-2S]</a:t>
            </a:r>
            <a:endParaRPr lang="en-US" sz="1200" dirty="0"/>
          </a:p>
        </p:txBody>
      </p:sp>
      <p:sp>
        <p:nvSpPr>
          <p:cNvPr id="72" name="Text 9">
            <a:extLst>
              <a:ext uri="{FF2B5EF4-FFF2-40B4-BE49-F238E27FC236}">
                <a16:creationId xmlns:a16="http://schemas.microsoft.com/office/drawing/2014/main" id="{EE07257E-C589-C69C-212B-C44271C74669}"/>
              </a:ext>
            </a:extLst>
          </p:cNvPr>
          <p:cNvSpPr/>
          <p:nvPr/>
        </p:nvSpPr>
        <p:spPr>
          <a:xfrm>
            <a:off x="1066800" y="52456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[2Fe-2S] na posição 98</a:t>
            </a:r>
            <a:endParaRPr lang="en-US" sz="1200" dirty="0"/>
          </a:p>
        </p:txBody>
      </p:sp>
      <p:sp>
        <p:nvSpPr>
          <p:cNvPr id="73" name="Text 10">
            <a:extLst>
              <a:ext uri="{FF2B5EF4-FFF2-40B4-BE49-F238E27FC236}">
                <a16:creationId xmlns:a16="http://schemas.microsoft.com/office/drawing/2014/main" id="{5EBD8FEA-7EA3-C6DA-D9F7-CC8190AA7D2D}"/>
              </a:ext>
            </a:extLst>
          </p:cNvPr>
          <p:cNvSpPr/>
          <p:nvPr/>
        </p:nvSpPr>
        <p:spPr>
          <a:xfrm>
            <a:off x="1066800" y="56296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 terms ganham aspeto (MF/BP/CC)</a:t>
            </a:r>
            <a:endParaRPr lang="en-US" sz="1200" dirty="0"/>
          </a:p>
        </p:txBody>
      </p:sp>
      <p:sp>
        <p:nvSpPr>
          <p:cNvPr id="74" name="Shape 11">
            <a:extLst>
              <a:ext uri="{FF2B5EF4-FFF2-40B4-BE49-F238E27FC236}">
                <a16:creationId xmlns:a16="http://schemas.microsoft.com/office/drawing/2014/main" id="{B7B03480-E41C-662B-E346-B9A8CFC51F7D}"/>
              </a:ext>
            </a:extLst>
          </p:cNvPr>
          <p:cNvSpPr/>
          <p:nvPr/>
        </p:nvSpPr>
        <p:spPr>
          <a:xfrm>
            <a:off x="5867400" y="3489960"/>
            <a:ext cx="502920" cy="640080"/>
          </a:xfrm>
          <a:prstGeom prst="rightArrow">
            <a:avLst/>
          </a:prstGeom>
          <a:solidFill>
            <a:srgbClr val="5A9BB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5" name="Shape 12">
            <a:extLst>
              <a:ext uri="{FF2B5EF4-FFF2-40B4-BE49-F238E27FC236}">
                <a16:creationId xmlns:a16="http://schemas.microsoft.com/office/drawing/2014/main" id="{6E6E7084-75AC-9C42-9866-73B6E439A423}"/>
              </a:ext>
            </a:extLst>
          </p:cNvPr>
          <p:cNvSpPr/>
          <p:nvPr/>
        </p:nvSpPr>
        <p:spPr>
          <a:xfrm>
            <a:off x="6736080" y="1341120"/>
            <a:ext cx="5029200" cy="4937760"/>
          </a:xfrm>
          <a:prstGeom prst="rect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FE75184F-6908-CBD4-3221-1B801F135D77}"/>
              </a:ext>
            </a:extLst>
          </p:cNvPr>
          <p:cNvSpPr/>
          <p:nvPr/>
        </p:nvSpPr>
        <p:spPr>
          <a:xfrm>
            <a:off x="6964680" y="1569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3 — RESUMO LLM</a:t>
            </a:r>
            <a:endParaRPr lang="en-US" sz="12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FD759CF1-EC97-B3C2-B146-9FD7C4BBFBC9}"/>
              </a:ext>
            </a:extLst>
          </p:cNvPr>
          <p:cNvSpPr/>
          <p:nvPr/>
        </p:nvSpPr>
        <p:spPr>
          <a:xfrm>
            <a:off x="6964680" y="2026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geral</a:t>
            </a:r>
            <a:endParaRPr lang="en-US" sz="1400" dirty="0"/>
          </a:p>
        </p:txBody>
      </p:sp>
      <p:sp>
        <p:nvSpPr>
          <p:cNvPr id="78" name="Text 15">
            <a:extLst>
              <a:ext uri="{FF2B5EF4-FFF2-40B4-BE49-F238E27FC236}">
                <a16:creationId xmlns:a16="http://schemas.microsoft.com/office/drawing/2014/main" id="{173A657F-C4EF-A009-8513-75E52F357C37}"/>
              </a:ext>
            </a:extLst>
          </p:cNvPr>
          <p:cNvSpPr/>
          <p:nvPr/>
        </p:nvSpPr>
        <p:spPr>
          <a:xfrm>
            <a:off x="7101840" y="23926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0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Hidrogenase redutora de NADP com cluster ferro-enxofre.</a:t>
            </a:r>
            <a:endParaRPr lang="en-US" sz="1200" dirty="0"/>
          </a:p>
        </p:txBody>
      </p:sp>
      <p:sp>
        <p:nvSpPr>
          <p:cNvPr id="79" name="Text 16">
            <a:extLst>
              <a:ext uri="{FF2B5EF4-FFF2-40B4-BE49-F238E27FC236}">
                <a16:creationId xmlns:a16="http://schemas.microsoft.com/office/drawing/2014/main" id="{CCE0E79C-2618-8B58-B9D5-D01AB742B7C0}"/>
              </a:ext>
            </a:extLst>
          </p:cNvPr>
          <p:cNvSpPr/>
          <p:nvPr/>
        </p:nvSpPr>
        <p:spPr>
          <a:xfrm>
            <a:off x="6964680" y="3032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D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curada</a:t>
            </a:r>
            <a:endParaRPr lang="en-US" sz="1400" dirty="0"/>
          </a:p>
        </p:txBody>
      </p:sp>
      <p:sp>
        <p:nvSpPr>
          <p:cNvPr id="80" name="Text 17">
            <a:extLst>
              <a:ext uri="{FF2B5EF4-FFF2-40B4-BE49-F238E27FC236}">
                <a16:creationId xmlns:a16="http://schemas.microsoft.com/office/drawing/2014/main" id="{C3AB0A09-1C0C-7334-10A3-971E089C45CE}"/>
              </a:ext>
            </a:extLst>
          </p:cNvPr>
          <p:cNvSpPr/>
          <p:nvPr/>
        </p:nvSpPr>
        <p:spPr>
          <a:xfrm>
            <a:off x="7101840" y="33985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 1.12.1.3</a:t>
            </a:r>
            <a:endParaRPr lang="en-US" sz="1200" dirty="0"/>
          </a:p>
        </p:txBody>
      </p:sp>
      <p:sp>
        <p:nvSpPr>
          <p:cNvPr id="81" name="Text 18">
            <a:extLst>
              <a:ext uri="{FF2B5EF4-FFF2-40B4-BE49-F238E27FC236}">
                <a16:creationId xmlns:a16="http://schemas.microsoft.com/office/drawing/2014/main" id="{26867450-FC28-DC5B-E35E-41157BFF08AD}"/>
              </a:ext>
            </a:extLst>
          </p:cNvPr>
          <p:cNvSpPr/>
          <p:nvPr/>
        </p:nvSpPr>
        <p:spPr>
          <a:xfrm>
            <a:off x="7101840" y="37459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GO:0051537 (cluster 2Fe-2S)</a:t>
            </a:r>
            <a:endParaRPr lang="en-US" sz="1200" dirty="0"/>
          </a:p>
        </p:txBody>
      </p:sp>
      <p:sp>
        <p:nvSpPr>
          <p:cNvPr id="82" name="Text 19">
            <a:extLst>
              <a:ext uri="{FF2B5EF4-FFF2-40B4-BE49-F238E27FC236}">
                <a16:creationId xmlns:a16="http://schemas.microsoft.com/office/drawing/2014/main" id="{C1D37D2A-91FB-EC09-DF9D-CBA1D8BCF5C8}"/>
              </a:ext>
            </a:extLst>
          </p:cNvPr>
          <p:cNvSpPr/>
          <p:nvPr/>
        </p:nvSpPr>
        <p:spPr>
          <a:xfrm>
            <a:off x="6964680" y="417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Domínios e features</a:t>
            </a:r>
            <a:endParaRPr lang="en-US" sz="1400" dirty="0"/>
          </a:p>
        </p:txBody>
      </p:sp>
      <p:sp>
        <p:nvSpPr>
          <p:cNvPr id="83" name="Text 20">
            <a:extLst>
              <a:ext uri="{FF2B5EF4-FFF2-40B4-BE49-F238E27FC236}">
                <a16:creationId xmlns:a16="http://schemas.microsoft.com/office/drawing/2014/main" id="{B4F14E78-66B9-FCCC-2C65-B476C97E39B7}"/>
              </a:ext>
            </a:extLst>
          </p:cNvPr>
          <p:cNvSpPr/>
          <p:nvPr/>
        </p:nvSpPr>
        <p:spPr>
          <a:xfrm>
            <a:off x="7101840" y="45415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PF01257 + site [2Fe-2S] pos. 98</a:t>
            </a:r>
            <a:endParaRPr lang="en-US" sz="1200" dirty="0"/>
          </a:p>
        </p:txBody>
      </p:sp>
      <p:sp>
        <p:nvSpPr>
          <p:cNvPr id="88" name="Text 21">
            <a:extLst>
              <a:ext uri="{FF2B5EF4-FFF2-40B4-BE49-F238E27FC236}">
                <a16:creationId xmlns:a16="http://schemas.microsoft.com/office/drawing/2014/main" id="{3706DEA0-123F-71F2-C281-92DA7486EE17}"/>
              </a:ext>
            </a:extLst>
          </p:cNvPr>
          <p:cNvSpPr/>
          <p:nvPr/>
        </p:nvSpPr>
        <p:spPr>
          <a:xfrm>
            <a:off x="6964680" y="490343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5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1400" dirty="0"/>
          </a:p>
        </p:txBody>
      </p:sp>
      <p:sp>
        <p:nvSpPr>
          <p:cNvPr id="89" name="Text 22">
            <a:extLst>
              <a:ext uri="{FF2B5EF4-FFF2-40B4-BE49-F238E27FC236}">
                <a16:creationId xmlns:a16="http://schemas.microsoft.com/office/drawing/2014/main" id="{75A1E9F2-6B35-EA8D-D375-6B7AFED5C85B}"/>
              </a:ext>
            </a:extLst>
          </p:cNvPr>
          <p:cNvSpPr/>
          <p:nvPr/>
        </p:nvSpPr>
        <p:spPr>
          <a:xfrm>
            <a:off x="7101840" y="526919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Confirmar EC na literatura</a:t>
            </a:r>
            <a:endParaRPr lang="en-US" sz="1150" dirty="0"/>
          </a:p>
        </p:txBody>
      </p:sp>
      <p:sp>
        <p:nvSpPr>
          <p:cNvPr id="90" name="Text 23">
            <a:extLst>
              <a:ext uri="{FF2B5EF4-FFF2-40B4-BE49-F238E27FC236}">
                <a16:creationId xmlns:a16="http://schemas.microsoft.com/office/drawing/2014/main" id="{C22B02FB-8946-9F8C-37BD-7838C1643F9F}"/>
              </a:ext>
            </a:extLst>
          </p:cNvPr>
          <p:cNvSpPr/>
          <p:nvPr/>
        </p:nvSpPr>
        <p:spPr>
          <a:xfrm>
            <a:off x="7101840" y="561666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Verificar se PF01257 cobre toda a sequência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F5D62-C130-3930-130D-75A1F8BA4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>
            <a:extLst>
              <a:ext uri="{FF2B5EF4-FFF2-40B4-BE49-F238E27FC236}">
                <a16:creationId xmlns:a16="http://schemas.microsoft.com/office/drawing/2014/main" id="{6777F27F-01B6-71FB-3555-F516AC09A58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347E2801-E006-C919-E71E-DA472D632690}"/>
              </a:ext>
            </a:extLst>
          </p:cNvPr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CONCLUSÕES, LIMITAÇÕES E TRABALHO FUTURO</a:t>
            </a:r>
            <a:endParaRPr lang="en-US" sz="1200" dirty="0"/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F931D9DB-05C7-DAAF-BDA5-6A3436CF703E}"/>
              </a:ext>
            </a:extLst>
          </p:cNvPr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Ponto de situação</a:t>
            </a:r>
            <a:endParaRPr lang="en-US" sz="2800" dirty="0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CBA8E974-2A83-59D5-1502-616A9F795C95}"/>
              </a:ext>
            </a:extLst>
          </p:cNvPr>
          <p:cNvSpPr/>
          <p:nvPr/>
        </p:nvSpPr>
        <p:spPr>
          <a:xfrm>
            <a:off x="640080" y="1965960"/>
            <a:ext cx="3611880" cy="73152"/>
          </a:xfrm>
          <a:prstGeom prst="rect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BB94AEE9-DF3F-99C4-80D0-E029E09C1987}"/>
              </a:ext>
            </a:extLst>
          </p:cNvPr>
          <p:cNvSpPr/>
          <p:nvPr/>
        </p:nvSpPr>
        <p:spPr>
          <a:xfrm>
            <a:off x="640080" y="21488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CONCRETIZADO</a:t>
            </a:r>
            <a:endParaRPr lang="en-US" sz="1200" dirty="0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BFE02E53-B74C-3F06-B3E6-4DCB8607CE13}"/>
              </a:ext>
            </a:extLst>
          </p:cNvPr>
          <p:cNvSpPr/>
          <p:nvPr/>
        </p:nvSpPr>
        <p:spPr>
          <a:xfrm>
            <a:off x="640080" y="2715768"/>
            <a:ext cx="91440" cy="91440"/>
          </a:xfrm>
          <a:prstGeom prst="ellipse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F9EF3018-D4AA-3516-6BE5-C1A5516A87D5}"/>
              </a:ext>
            </a:extLst>
          </p:cNvPr>
          <p:cNvSpPr/>
          <p:nvPr/>
        </p:nvSpPr>
        <p:spPr>
          <a:xfrm>
            <a:off x="640080" y="3429000"/>
            <a:ext cx="91440" cy="91440"/>
          </a:xfrm>
          <a:prstGeom prst="ellipse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2F887ED5-7A4D-8222-437B-1AB272120868}"/>
              </a:ext>
            </a:extLst>
          </p:cNvPr>
          <p:cNvSpPr/>
          <p:nvPr/>
        </p:nvSpPr>
        <p:spPr>
          <a:xfrm>
            <a:off x="822960" y="240221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Etapa 3 validada em 25 proteínas (5 grupos)</a:t>
            </a:r>
            <a:endParaRPr lang="en-US" sz="1300" dirty="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DF46C712-B7C2-D936-740B-1370049F458A}"/>
              </a:ext>
            </a:extLst>
          </p:cNvPr>
          <p:cNvSpPr/>
          <p:nvPr/>
        </p:nvSpPr>
        <p:spPr>
          <a:xfrm>
            <a:off x="640080" y="4142232"/>
            <a:ext cx="91440" cy="91440"/>
          </a:xfrm>
          <a:prstGeom prst="ellipse">
            <a:avLst/>
          </a:prstGeom>
          <a:solidFill>
            <a:srgbClr val="7FD1A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A008ACC5-6131-F2A1-9A06-F266403A5844}"/>
              </a:ext>
            </a:extLst>
          </p:cNvPr>
          <p:cNvSpPr/>
          <p:nvPr/>
        </p:nvSpPr>
        <p:spPr>
          <a:xfrm>
            <a:off x="868680" y="3063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Resumos LLM estruturados e revisíveis</a:t>
            </a:r>
            <a:endParaRPr lang="en-US" sz="1300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9121DF86-93D7-B613-DBBB-78AFB7CB7886}"/>
              </a:ext>
            </a:extLst>
          </p:cNvPr>
          <p:cNvSpPr/>
          <p:nvPr/>
        </p:nvSpPr>
        <p:spPr>
          <a:xfrm>
            <a:off x="832452" y="3801911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Streamlit funcional</a:t>
            </a:r>
            <a:endParaRPr lang="en-US" sz="1300" dirty="0"/>
          </a:p>
        </p:txBody>
      </p:sp>
      <p:sp>
        <p:nvSpPr>
          <p:cNvPr id="59" name="Shape 13">
            <a:extLst>
              <a:ext uri="{FF2B5EF4-FFF2-40B4-BE49-F238E27FC236}">
                <a16:creationId xmlns:a16="http://schemas.microsoft.com/office/drawing/2014/main" id="{00EBB48E-4CFE-60F8-8FFC-434F7CBE355A}"/>
              </a:ext>
            </a:extLst>
          </p:cNvPr>
          <p:cNvSpPr/>
          <p:nvPr/>
        </p:nvSpPr>
        <p:spPr>
          <a:xfrm>
            <a:off x="4389120" y="1965960"/>
            <a:ext cx="3611880" cy="73152"/>
          </a:xfrm>
          <a:prstGeom prst="rect">
            <a:avLst/>
          </a:prstGeom>
          <a:solidFill>
            <a:srgbClr val="F5C16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34C9BD09-46AB-2E5E-E475-BAF2F224A496}"/>
              </a:ext>
            </a:extLst>
          </p:cNvPr>
          <p:cNvSpPr/>
          <p:nvPr/>
        </p:nvSpPr>
        <p:spPr>
          <a:xfrm>
            <a:off x="4389120" y="21488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LIMITAÇÕES</a:t>
            </a:r>
            <a:endParaRPr lang="en-US" sz="1200" dirty="0"/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952C6417-E82D-3410-1C45-E17DB148E634}"/>
              </a:ext>
            </a:extLst>
          </p:cNvPr>
          <p:cNvSpPr/>
          <p:nvPr/>
        </p:nvSpPr>
        <p:spPr>
          <a:xfrm>
            <a:off x="4389120" y="2715768"/>
            <a:ext cx="91440" cy="91440"/>
          </a:xfrm>
          <a:prstGeom prst="ellipse">
            <a:avLst/>
          </a:prstGeom>
          <a:solidFill>
            <a:srgbClr val="F5C16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29DBC906-337A-40B2-1C08-272C36E1BBB7}"/>
              </a:ext>
            </a:extLst>
          </p:cNvPr>
          <p:cNvSpPr/>
          <p:nvPr/>
        </p:nvSpPr>
        <p:spPr>
          <a:xfrm>
            <a:off x="4594860" y="2379935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ainda em conjunto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pequeno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63" name="Shape 17">
            <a:extLst>
              <a:ext uri="{FF2B5EF4-FFF2-40B4-BE49-F238E27FC236}">
                <a16:creationId xmlns:a16="http://schemas.microsoft.com/office/drawing/2014/main" id="{C36B1F86-E225-7D93-7425-C8CB467427E2}"/>
              </a:ext>
            </a:extLst>
          </p:cNvPr>
          <p:cNvSpPr/>
          <p:nvPr/>
        </p:nvSpPr>
        <p:spPr>
          <a:xfrm>
            <a:off x="4389120" y="3429000"/>
            <a:ext cx="91440" cy="91440"/>
          </a:xfrm>
          <a:prstGeom prst="ellipse">
            <a:avLst/>
          </a:prstGeom>
          <a:solidFill>
            <a:srgbClr val="F5C16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AD54B167-8CAB-A7E1-D3D2-BB0D9EDE20A9}"/>
              </a:ext>
            </a:extLst>
          </p:cNvPr>
          <p:cNvSpPr/>
          <p:nvPr/>
        </p:nvSpPr>
        <p:spPr>
          <a:xfrm>
            <a:off x="4583430" y="3093167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Fidelidade não pode ser garantida em absoluto</a:t>
            </a:r>
            <a:endParaRPr lang="en-US" sz="1300" dirty="0"/>
          </a:p>
        </p:txBody>
      </p:sp>
      <p:sp>
        <p:nvSpPr>
          <p:cNvPr id="65" name="Shape 19">
            <a:extLst>
              <a:ext uri="{FF2B5EF4-FFF2-40B4-BE49-F238E27FC236}">
                <a16:creationId xmlns:a16="http://schemas.microsoft.com/office/drawing/2014/main" id="{E4D4347B-5ED2-27DD-5260-10C4B161D344}"/>
              </a:ext>
            </a:extLst>
          </p:cNvPr>
          <p:cNvSpPr/>
          <p:nvPr/>
        </p:nvSpPr>
        <p:spPr>
          <a:xfrm>
            <a:off x="4389120" y="4142232"/>
            <a:ext cx="91440" cy="91440"/>
          </a:xfrm>
          <a:prstGeom prst="ellipse">
            <a:avLst/>
          </a:prstGeom>
          <a:solidFill>
            <a:srgbClr val="F5C16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6" name="Text 20">
            <a:extLst>
              <a:ext uri="{FF2B5EF4-FFF2-40B4-BE49-F238E27FC236}">
                <a16:creationId xmlns:a16="http://schemas.microsoft.com/office/drawing/2014/main" id="{51B0EB94-50D0-A572-D74E-FED5971DFFD9}"/>
              </a:ext>
            </a:extLst>
          </p:cNvPr>
          <p:cNvSpPr/>
          <p:nvPr/>
        </p:nvSpPr>
        <p:spPr>
          <a:xfrm>
            <a:off x="4619658" y="3801911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Modelo de 8B com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300" dirty="0"/>
          </a:p>
        </p:txBody>
      </p:sp>
      <p:sp>
        <p:nvSpPr>
          <p:cNvPr id="69" name="Shape 23">
            <a:extLst>
              <a:ext uri="{FF2B5EF4-FFF2-40B4-BE49-F238E27FC236}">
                <a16:creationId xmlns:a16="http://schemas.microsoft.com/office/drawing/2014/main" id="{03FE72A9-F9E5-35EC-A785-E905D8479BEB}"/>
              </a:ext>
            </a:extLst>
          </p:cNvPr>
          <p:cNvSpPr/>
          <p:nvPr/>
        </p:nvSpPr>
        <p:spPr>
          <a:xfrm>
            <a:off x="8138160" y="1965960"/>
            <a:ext cx="3611880" cy="73152"/>
          </a:xfrm>
          <a:prstGeom prst="rect">
            <a:avLst/>
          </a:prstGeom>
          <a:solidFill>
            <a:srgbClr val="9CC0D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B4086274-3CC5-866F-6596-A7CFDF1B4EBF}"/>
              </a:ext>
            </a:extLst>
          </p:cNvPr>
          <p:cNvSpPr/>
          <p:nvPr/>
        </p:nvSpPr>
        <p:spPr>
          <a:xfrm>
            <a:off x="8138160" y="21488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TRABALHO FUTURO</a:t>
            </a:r>
            <a:endParaRPr lang="en-US" sz="1200" dirty="0"/>
          </a:p>
        </p:txBody>
      </p:sp>
      <p:sp>
        <p:nvSpPr>
          <p:cNvPr id="71" name="Shape 25">
            <a:extLst>
              <a:ext uri="{FF2B5EF4-FFF2-40B4-BE49-F238E27FC236}">
                <a16:creationId xmlns:a16="http://schemas.microsoft.com/office/drawing/2014/main" id="{DE80415E-EAD9-6E20-1C15-5C913816B2F7}"/>
              </a:ext>
            </a:extLst>
          </p:cNvPr>
          <p:cNvSpPr/>
          <p:nvPr/>
        </p:nvSpPr>
        <p:spPr>
          <a:xfrm>
            <a:off x="8138160" y="2715768"/>
            <a:ext cx="91440" cy="91440"/>
          </a:xfrm>
          <a:prstGeom prst="ellipse">
            <a:avLst/>
          </a:prstGeom>
          <a:solidFill>
            <a:srgbClr val="9CC0D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057657A3-C6ED-BA5A-4AA9-D01CA117563F}"/>
              </a:ext>
            </a:extLst>
          </p:cNvPr>
          <p:cNvSpPr/>
          <p:nvPr/>
        </p:nvSpPr>
        <p:spPr>
          <a:xfrm>
            <a:off x="8321040" y="2365119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Aplicar metodologia ao llama3.3 (70B)</a:t>
            </a:r>
            <a:endParaRPr lang="en-US" sz="1300" dirty="0"/>
          </a:p>
        </p:txBody>
      </p:sp>
      <p:sp>
        <p:nvSpPr>
          <p:cNvPr id="73" name="Shape 27">
            <a:extLst>
              <a:ext uri="{FF2B5EF4-FFF2-40B4-BE49-F238E27FC236}">
                <a16:creationId xmlns:a16="http://schemas.microsoft.com/office/drawing/2014/main" id="{F351918C-05A2-E3AA-4E42-1FC8097203D0}"/>
              </a:ext>
            </a:extLst>
          </p:cNvPr>
          <p:cNvSpPr/>
          <p:nvPr/>
        </p:nvSpPr>
        <p:spPr>
          <a:xfrm>
            <a:off x="8138160" y="3429000"/>
            <a:ext cx="91440" cy="91440"/>
          </a:xfrm>
          <a:prstGeom prst="ellipse">
            <a:avLst/>
          </a:prstGeom>
          <a:solidFill>
            <a:srgbClr val="9CC0D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8" name="Text 32">
            <a:extLst>
              <a:ext uri="{FF2B5EF4-FFF2-40B4-BE49-F238E27FC236}">
                <a16:creationId xmlns:a16="http://schemas.microsoft.com/office/drawing/2014/main" id="{17B79D2C-3EBA-593C-C88F-8172E29771F0}"/>
              </a:ext>
            </a:extLst>
          </p:cNvPr>
          <p:cNvSpPr/>
          <p:nvPr/>
        </p:nvSpPr>
        <p:spPr>
          <a:xfrm>
            <a:off x="8334408" y="306850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Integrar em trabalhos futuros do grupo</a:t>
            </a:r>
            <a:endParaRPr lang="en-US" sz="1300" dirty="0"/>
          </a:p>
        </p:txBody>
      </p:sp>
      <p:sp>
        <p:nvSpPr>
          <p:cNvPr id="80" name="Shape 27">
            <a:extLst>
              <a:ext uri="{FF2B5EF4-FFF2-40B4-BE49-F238E27FC236}">
                <a16:creationId xmlns:a16="http://schemas.microsoft.com/office/drawing/2014/main" id="{8E3C638D-071F-856E-45EB-41DA5715298A}"/>
              </a:ext>
            </a:extLst>
          </p:cNvPr>
          <p:cNvSpPr/>
          <p:nvPr/>
        </p:nvSpPr>
        <p:spPr>
          <a:xfrm>
            <a:off x="8122953" y="4187952"/>
            <a:ext cx="91440" cy="91440"/>
          </a:xfrm>
          <a:prstGeom prst="ellipse">
            <a:avLst/>
          </a:prstGeom>
          <a:solidFill>
            <a:srgbClr val="9CC0D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4E3664B-B624-85C0-1C05-A17BD4794771}"/>
              </a:ext>
            </a:extLst>
          </p:cNvPr>
          <p:cNvSpPr txBox="1"/>
          <p:nvPr/>
        </p:nvSpPr>
        <p:spPr>
          <a:xfrm>
            <a:off x="8214393" y="4070072"/>
            <a:ext cx="609407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Melhorias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gerais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app de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370084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</TotalTime>
  <Words>691</Words>
  <Application>Microsoft Office PowerPoint</Application>
  <PresentationFormat>Widescreen</PresentationFormat>
  <Paragraphs>187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Integrative Enrichment of Protein Functional Annotations Using LLMs</dc:title>
  <dc:subject>PptxGenJS Presentation</dc:subject>
  <dc:creator>Luís Pedrosa</dc:creator>
  <cp:lastModifiedBy>Luís Pedro Fernandes Pedrosa</cp:lastModifiedBy>
  <cp:revision>16</cp:revision>
  <dcterms:created xsi:type="dcterms:W3CDTF">2026-05-30T08:16:34Z</dcterms:created>
  <dcterms:modified xsi:type="dcterms:W3CDTF">2026-05-31T17:29:29Z</dcterms:modified>
</cp:coreProperties>
</file>